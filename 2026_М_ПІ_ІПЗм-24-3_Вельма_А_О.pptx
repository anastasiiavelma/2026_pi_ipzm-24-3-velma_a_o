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8" r:id="rId7"/>
    <p:sldId id="261" r:id="rId8"/>
    <p:sldId id="262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B9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86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172A"/>
                </a:solidFill>
                <a:latin typeface="Arial"/>
              </a:defRPr>
            </a:pPr>
            <a:r>
              <a:rPr lang="ru-RU" sz="1200" b="0" i="0" u="none" strike="noStrike">
                <a:solidFill>
                  <a:srgbClr val="0F172A"/>
                </a:solidFill>
                <a:latin typeface="Arial"/>
              </a:rPr>
              <a:t>Середній час рендерингу кадру (мс)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Frame Rendering (ms)</c:v>
                </c:pt>
              </c:strCache>
            </c:strRef>
          </c:tx>
          <c:spPr>
            <a:solidFill>
              <a:srgbClr val="0284C7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194-43C8-98AA-FBF87E339248}"/>
              </c:ext>
            </c:extLst>
          </c:dPt>
          <c:dPt>
            <c:idx val="1"/>
            <c:invertIfNegative val="0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194-43C8-98AA-FBF87E339248}"/>
              </c:ext>
            </c:extLst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194-43C8-98AA-FBF87E339248}"/>
              </c:ext>
            </c:extLst>
          </c:dPt>
          <c:dPt>
            <c:idx val="3"/>
            <c:invertIfNegative val="0"/>
            <c:bubble3D val="0"/>
            <c:spPr>
              <a:solidFill>
                <a:srgbClr val="1D4E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194-43C8-98AA-FBF87E33924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F172A"/>
                    </a:solidFill>
                    <a:latin typeface="Arial"/>
                  </a:defRPr>
                </a:pPr>
                <a:endParaRPr lang="LID4096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Provider</c:v>
                </c:pt>
                <c:pt idx="1">
                  <c:v>Riverpod</c:v>
                </c:pt>
                <c:pt idx="2">
                  <c:v>MobX</c:v>
                </c:pt>
                <c:pt idx="3">
                  <c:v>Bloc/Cubit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16</c:v>
                </c:pt>
                <c:pt idx="1">
                  <c:v>12</c:v>
                </c:pt>
                <c:pt idx="2">
                  <c:v>18</c:v>
                </c:pt>
                <c:pt idx="3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194-43C8-98AA-FBF87E33924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83076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C7D11-04E7-1A69-57B3-639EE5BBA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38C2A6-7DA2-D5C5-2FDF-550DCA510F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FE0CE4-76CB-A870-81C4-27099AD59A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6494C8-B435-3B1E-8D37-5406E64DCF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8879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73152" cy="508863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4" name="Shape 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7" name="Text 5"/>
          <p:cNvSpPr/>
          <p:nvPr/>
        </p:nvSpPr>
        <p:spPr>
          <a:xfrm>
            <a:off x="365760" y="45720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38BDF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КВАЛІФІКАЦІЙНА РОБОТА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330058"/>
            <a:ext cx="5309826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Дослідження методів управління</a:t>
            </a:r>
            <a:endParaRPr lang="en-US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станом мобільного застосунка</a:t>
            </a:r>
            <a:endParaRPr lang="en-US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з використанням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технології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 Flutter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для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підвищення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ефективності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архітектурних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рішень</a:t>
            </a:r>
            <a:endParaRPr lang="en-US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365760" y="3154680"/>
            <a:ext cx="4114800" cy="3657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1" name="Text 9"/>
          <p:cNvSpPr/>
          <p:nvPr/>
        </p:nvSpPr>
        <p:spPr>
          <a:xfrm>
            <a:off x="365760" y="32918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Виконала: </a:t>
            </a: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Вельма Анастасія Олександрівна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3611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Керівник: </a:t>
            </a:r>
            <a:r>
              <a:rPr lang="en-US" sz="14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доц. Голян Н. В.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5760" y="4069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ХНУРЕ  •  Кафедра програмної інженерії  •  2026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503920" y="48463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5" name="AutoShape 2">
            <a:extLst>
              <a:ext uri="{FF2B5EF4-FFF2-40B4-BE49-F238E27FC236}">
                <a16:creationId xmlns:a16="http://schemas.microsoft.com/office/drawing/2014/main" id="{95EE370F-1481-A01C-7FAF-3A009D0F513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16" name="AutoShape 4">
            <a:extLst>
              <a:ext uri="{FF2B5EF4-FFF2-40B4-BE49-F238E27FC236}">
                <a16:creationId xmlns:a16="http://schemas.microsoft.com/office/drawing/2014/main" id="{8FF2A01A-5EDA-B87D-3555-7C6C94F8307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25717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99672C93-9AA8-3686-3303-6CD0DC6A6A7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2140"/>
          <a:stretch>
            <a:fillRect/>
          </a:stretch>
        </p:blipFill>
        <p:spPr>
          <a:xfrm>
            <a:off x="5407572" y="673687"/>
            <a:ext cx="3644988" cy="357141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ЗМІСТ ПРЕЗЕНТАЦІЇ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4023360" cy="749808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5" name="Text 3"/>
          <p:cNvSpPr/>
          <p:nvPr/>
        </p:nvSpPr>
        <p:spPr>
          <a:xfrm>
            <a:off x="566928" y="987552"/>
            <a:ext cx="594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8BDF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70432" y="987552"/>
            <a:ext cx="3200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Актуальність та мета дослідження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4023360" cy="749808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8" name="Text 6"/>
          <p:cNvSpPr/>
          <p:nvPr/>
        </p:nvSpPr>
        <p:spPr>
          <a:xfrm>
            <a:off x="566928" y="1947672"/>
            <a:ext cx="594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8BDF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170432" y="1947672"/>
            <a:ext cx="3200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Аналіз предметної галузі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4023360" cy="749808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1" name="Text 9"/>
          <p:cNvSpPr/>
          <p:nvPr/>
        </p:nvSpPr>
        <p:spPr>
          <a:xfrm>
            <a:off x="566928" y="2907792"/>
            <a:ext cx="594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8BDF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70432" y="2907792"/>
            <a:ext cx="3200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Огляд методів управління станом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794760"/>
            <a:ext cx="4023360" cy="749808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4" name="Text 12"/>
          <p:cNvSpPr/>
          <p:nvPr/>
        </p:nvSpPr>
        <p:spPr>
          <a:xfrm>
            <a:off x="566928" y="3867912"/>
            <a:ext cx="594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8BDF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170432" y="3867912"/>
            <a:ext cx="3200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Порівняльна характеристика підходів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46320" y="914400"/>
            <a:ext cx="4023360" cy="749808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7" name="Text 15"/>
          <p:cNvSpPr/>
          <p:nvPr/>
        </p:nvSpPr>
        <p:spPr>
          <a:xfrm>
            <a:off x="4956048" y="987552"/>
            <a:ext cx="594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8BDF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559552" y="987552"/>
            <a:ext cx="3200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Архітектура </a:t>
            </a:r>
            <a:r>
              <a:rPr lang="en-US" sz="1300" dirty="0" err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застосунку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46320" y="1874520"/>
            <a:ext cx="4023360" cy="749808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20" name="Text 18"/>
          <p:cNvSpPr/>
          <p:nvPr/>
        </p:nvSpPr>
        <p:spPr>
          <a:xfrm>
            <a:off x="4956048" y="1947672"/>
            <a:ext cx="594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8BDF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06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559552" y="1947672"/>
            <a:ext cx="3200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Програмна реалізація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46320" y="2834640"/>
            <a:ext cx="4023360" cy="749808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23" name="Text 21"/>
          <p:cNvSpPr/>
          <p:nvPr/>
        </p:nvSpPr>
        <p:spPr>
          <a:xfrm>
            <a:off x="4956048" y="2907792"/>
            <a:ext cx="594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8BDF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07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559552" y="2907792"/>
            <a:ext cx="3200400" cy="603504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Результати тестування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46320" y="3794760"/>
            <a:ext cx="4023360" cy="749808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26" name="Text 24"/>
          <p:cNvSpPr/>
          <p:nvPr/>
        </p:nvSpPr>
        <p:spPr>
          <a:xfrm>
            <a:off x="4956048" y="3867912"/>
            <a:ext cx="594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8BDF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08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559552" y="3867912"/>
            <a:ext cx="3200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Висновки та рекомендації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503920" y="48463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АКТУАЛЬНІСТЬ ТА МЕТА ДОСЛІДЖЕННЯ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023360" cy="3840480"/>
          </a:xfrm>
          <a:prstGeom prst="rect">
            <a:avLst/>
          </a:prstGeom>
          <a:solidFill>
            <a:srgbClr val="002060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i="1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Проблема</a:t>
            </a:r>
            <a:endParaRPr lang="en-US" sz="1400" i="1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8BDF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▸  </a:t>
            </a: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Неефективне управління станом призводить до «фрізів» навіть при 60 FPS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8BDF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▸  </a:t>
            </a: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Provider, BLoC, Riverpod — відсутні єдині критерії вибору підходу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8BDF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▸  </a:t>
            </a:r>
            <a:r>
              <a:rPr lang="uk-UA" sz="1300" dirty="0"/>
              <a:t> </a:t>
            </a:r>
            <a:r>
              <a:rPr lang="en-US" sz="1300" dirty="0" err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Більшість</a:t>
            </a: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порівнянь суб'єктивні й не базуються на кількісних метриках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8BDF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▸  </a:t>
            </a:r>
            <a:r>
              <a:rPr lang="en-US" sz="1300" dirty="0" err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Через</a:t>
            </a: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6–12 місяців розробники вимушені повністю переписувати код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14789" y="914399"/>
            <a:ext cx="4023360" cy="3840480"/>
          </a:xfrm>
          <a:prstGeom prst="rect">
            <a:avLst/>
          </a:prstGeom>
          <a:solidFill>
            <a:srgbClr val="002060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8" name="Text 6"/>
          <p:cNvSpPr/>
          <p:nvPr/>
        </p:nvSpPr>
        <p:spPr>
          <a:xfrm>
            <a:off x="4846320" y="9144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i="1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Мета роботи</a:t>
            </a:r>
            <a:endParaRPr lang="en-US" sz="2400" i="1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5029200" y="14630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Обґрунтувати вибір ефективного методу управління станом Flutter-застосунку шляхом: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66138" y="2034541"/>
            <a:ext cx="3720662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1)</a:t>
            </a: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</a:t>
            </a:r>
            <a:r>
              <a:rPr lang="en-US" sz="1300" dirty="0" err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аналізу</a:t>
            </a: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підходів Provider, BLoC/Cubit та Riverpod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uk-UA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2)</a:t>
            </a: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розробки застосунку State Explorer на Flutter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uk-UA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3) </a:t>
            </a:r>
            <a:r>
              <a:rPr lang="en-US" sz="1300" dirty="0" err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експериментального</a:t>
            </a: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оцінювання продуктивності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uk-UA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4) </a:t>
            </a:r>
            <a:r>
              <a:rPr lang="en-US" sz="1300" dirty="0" err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формулювання</a:t>
            </a: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практичних рекомендацій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503920" y="48463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АНАЛІЗ ПРЕДМЕТНОЇ ГАЛУЗІ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43200" cy="393192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5" name="Text 3"/>
          <p:cNvSpPr/>
          <p:nvPr/>
        </p:nvSpPr>
        <p:spPr>
          <a:xfrm>
            <a:off x="274320" y="898398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📱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4320" y="20802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Flutter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411480" y="2752343"/>
            <a:ext cx="2468880" cy="45719"/>
          </a:xfrm>
          <a:prstGeom prst="rect">
            <a:avLst/>
          </a:prstGeom>
          <a:solidFill>
            <a:schemeClr val="bg1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8" name="Text 6"/>
          <p:cNvSpPr/>
          <p:nvPr/>
        </p:nvSpPr>
        <p:spPr>
          <a:xfrm>
            <a:off x="411480" y="2514600"/>
            <a:ext cx="24688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Кросплатформовий фреймворк від Google. Власний рушій Skia/Impeller, pixel-perfect UI. Dart JIT + AOT компіляція. Єдина кодова база для iOS та Android.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00400" y="914400"/>
            <a:ext cx="2743200" cy="393192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0" name="Text 8"/>
          <p:cNvSpPr/>
          <p:nvPr/>
        </p:nvSpPr>
        <p:spPr>
          <a:xfrm>
            <a:off x="3200400" y="100584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⚙️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154680" y="19431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State</a:t>
            </a:r>
            <a:r>
              <a:rPr lang="en-US" sz="2800" b="1" dirty="0">
                <a:solidFill>
                  <a:srgbClr val="38BDF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2800" b="1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Management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406140" y="2743197"/>
            <a:ext cx="2400300" cy="45719"/>
          </a:xfrm>
          <a:prstGeom prst="rect">
            <a:avLst/>
          </a:prstGeom>
          <a:solidFill>
            <a:schemeClr val="bg1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3" name="Text 11"/>
          <p:cNvSpPr/>
          <p:nvPr/>
        </p:nvSpPr>
        <p:spPr>
          <a:xfrm>
            <a:off x="3337560" y="2834638"/>
            <a:ext cx="2468880" cy="17830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UI = f(state). Будь-яка зміна стану спричиняє ребілд UI. Від якості управління станом залежить продуктивність, підтримуваність та UX.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126480" y="914400"/>
            <a:ext cx="2743200" cy="393192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5" name="Text 13"/>
          <p:cNvSpPr/>
          <p:nvPr/>
        </p:nvSpPr>
        <p:spPr>
          <a:xfrm>
            <a:off x="6126480" y="100584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🏗️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035040" y="1906524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Ключові виклики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6263640" y="2834638"/>
            <a:ext cx="2468880" cy="17830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Over-rendering </a:t>
            </a:r>
            <a:r>
              <a:rPr lang="uk-UA" sz="16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– </a:t>
            </a:r>
            <a:r>
              <a:rPr lang="en-US" sz="16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зміна одного елемента ребілдить весь екран. Складність налагодження. Синхронізація даних між екранами. Відгук ≤ 100–200 мс.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08610" y="48691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Flutter використовується у 46% кросплатформових мобільних проєктів станом на 2025 рік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503920" y="48463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Shape 10">
            <a:extLst>
              <a:ext uri="{FF2B5EF4-FFF2-40B4-BE49-F238E27FC236}">
                <a16:creationId xmlns:a16="http://schemas.microsoft.com/office/drawing/2014/main" id="{F275081F-2521-3AFF-8252-68A44EE2CA9D}"/>
              </a:ext>
            </a:extLst>
          </p:cNvPr>
          <p:cNvSpPr/>
          <p:nvPr/>
        </p:nvSpPr>
        <p:spPr>
          <a:xfrm>
            <a:off x="6297930" y="2747560"/>
            <a:ext cx="2400300" cy="45719"/>
          </a:xfrm>
          <a:prstGeom prst="rect">
            <a:avLst/>
          </a:prstGeom>
          <a:solidFill>
            <a:schemeClr val="bg1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2060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ОГЛЯД МЕТОДІВ УПРАВЛІННЯ СТАНОМ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74320" y="1193292"/>
            <a:ext cx="8595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1" name="Shape 9"/>
          <p:cNvSpPr/>
          <p:nvPr/>
        </p:nvSpPr>
        <p:spPr>
          <a:xfrm>
            <a:off x="274320" y="1193292"/>
            <a:ext cx="73152" cy="86868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2" name="Text 10"/>
          <p:cNvSpPr/>
          <p:nvPr/>
        </p:nvSpPr>
        <p:spPr>
          <a:xfrm>
            <a:off x="457200" y="133045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Provider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011680" y="1379167"/>
            <a:ext cx="1371600" cy="27432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uk-UA" dirty="0"/>
          </a:p>
        </p:txBody>
      </p:sp>
      <p:sp>
        <p:nvSpPr>
          <p:cNvPr id="14" name="Text 12"/>
          <p:cNvSpPr/>
          <p:nvPr/>
        </p:nvSpPr>
        <p:spPr>
          <a:xfrm>
            <a:off x="2011680" y="137617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Малі/середні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566160" y="1284732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Базується на InheritedWidget. Офіційно рекомендований Google. ChangeNotifier + notifyListeners(). Простий, але без чіткого розділення логіки.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2520748"/>
            <a:ext cx="8595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7" name="Shape 15"/>
          <p:cNvSpPr/>
          <p:nvPr/>
        </p:nvSpPr>
        <p:spPr>
          <a:xfrm>
            <a:off x="274320" y="2520748"/>
            <a:ext cx="73152" cy="8686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8" name="Text 16"/>
          <p:cNvSpPr/>
          <p:nvPr/>
        </p:nvSpPr>
        <p:spPr>
          <a:xfrm>
            <a:off x="457200" y="265790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BLoC / Cubit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011680" y="2703628"/>
            <a:ext cx="1371600" cy="2743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20" name="Text 18"/>
          <p:cNvSpPr/>
          <p:nvPr/>
        </p:nvSpPr>
        <p:spPr>
          <a:xfrm>
            <a:off x="2011680" y="27036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Enterprise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566160" y="2522640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Повне відокремлення бізнес-логіки через Streams. BLoC: Events → States. Cubit </a:t>
            </a:r>
            <a:r>
              <a:rPr lang="uk-UA" sz="12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–</a:t>
            </a:r>
            <a:r>
              <a:rPr lang="en-US" sz="12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спрощений BLoC без окремих подій. Відмінна тестованість.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3831336"/>
            <a:ext cx="8595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23" name="Shape 21"/>
          <p:cNvSpPr/>
          <p:nvPr/>
        </p:nvSpPr>
        <p:spPr>
          <a:xfrm>
            <a:off x="274320" y="3831336"/>
            <a:ext cx="73152" cy="868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24" name="Text 22"/>
          <p:cNvSpPr/>
          <p:nvPr/>
        </p:nvSpPr>
        <p:spPr>
          <a:xfrm>
            <a:off x="457200" y="3968496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Riverpod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2011680" y="4014216"/>
            <a:ext cx="1371600" cy="274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26" name="Text 24"/>
          <p:cNvSpPr/>
          <p:nvPr/>
        </p:nvSpPr>
        <p:spPr>
          <a:xfrm>
            <a:off x="2011680" y="40142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Будь-які проєкти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566160" y="3840165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Провайдери поза деревом віджетів. Compile-time перевірка залежностей. ref.watch()/read(). Виправляє архітектурні обмеження Provider.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503920" y="48463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970BC-DB28-0547-E127-14DD55A38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730A5F7-95B1-9099-DB65-9336DE2FD142}"/>
              </a:ext>
            </a:extLst>
          </p:cNvPr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2060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0C61EC6-39BD-BA4C-7A2C-87E6C5FA024B}"/>
              </a:ext>
            </a:extLst>
          </p:cNvPr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1800" b="1" dirty="0">
                <a:solidFill>
                  <a:srgbClr val="FFFFFF"/>
                </a:solidFill>
                <a:latin typeface="Times New Roman" pitchFamily="34" charset="0"/>
                <a:cs typeface="Times New Roman" pitchFamily="34" charset="-120"/>
              </a:rPr>
              <a:t>Програмна реалізація</a:t>
            </a:r>
            <a:endParaRPr lang="en-US" sz="18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DB35BE17-E31D-9448-63B8-1342EB08D330}"/>
              </a:ext>
            </a:extLst>
          </p:cNvPr>
          <p:cNvSpPr/>
          <p:nvPr/>
        </p:nvSpPr>
        <p:spPr>
          <a:xfrm>
            <a:off x="2011680" y="203911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Малі/середні</a:t>
            </a:r>
            <a:endParaRPr lang="en-US" sz="95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FAD5F6BB-3E31-158F-2B01-343862102E55}"/>
              </a:ext>
            </a:extLst>
          </p:cNvPr>
          <p:cNvSpPr/>
          <p:nvPr/>
        </p:nvSpPr>
        <p:spPr>
          <a:xfrm>
            <a:off x="8503920" y="48463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uk-UA" sz="1100" dirty="0">
                <a:solidFill>
                  <a:srgbClr val="64748B"/>
                </a:solidFill>
                <a:latin typeface="Times New Roman" pitchFamily="34" charset="0"/>
                <a:cs typeface="Times New Roman" pitchFamily="34" charset="-120"/>
              </a:rPr>
              <a:t>6</a:t>
            </a:r>
            <a:endParaRPr lang="en-US" sz="1100" dirty="0"/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C9CE44E5-6F76-28AF-07F2-C9658241AA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408" y="1041318"/>
            <a:ext cx="1596649" cy="3406929"/>
          </a:xfrm>
          <a:prstGeom prst="rect">
            <a:avLst/>
          </a:prstGeom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05399A64-6035-D1A4-59D6-F7F8EB37B65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709" r="1968"/>
          <a:stretch>
            <a:fillRect/>
          </a:stretch>
        </p:blipFill>
        <p:spPr bwMode="auto">
          <a:xfrm>
            <a:off x="2582024" y="1041318"/>
            <a:ext cx="1673277" cy="340692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6E366B56-04F4-E191-7943-A360E1734D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6797" y="1041319"/>
            <a:ext cx="1692884" cy="3406928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E7CD434F-DFBC-0457-7986-64BE26528B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26987" y="1041319"/>
            <a:ext cx="1751253" cy="3406928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B026FB54-E9C9-461A-52FE-C2738262F279}"/>
              </a:ext>
            </a:extLst>
          </p:cNvPr>
          <p:cNvSpPr txBox="1"/>
          <p:nvPr/>
        </p:nvSpPr>
        <p:spPr>
          <a:xfrm>
            <a:off x="7436894" y="4457964"/>
            <a:ext cx="1257788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11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Екран </a:t>
            </a:r>
            <a:r>
              <a:rPr lang="uk-UA" sz="1100" i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бенчмарку</a:t>
            </a:r>
            <a:r>
              <a:rPr lang="uk-UA" sz="11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з результатами вимірювань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38B1AFC-2171-B90D-407B-F53ABC8AB2BE}"/>
              </a:ext>
            </a:extLst>
          </p:cNvPr>
          <p:cNvSpPr txBox="1"/>
          <p:nvPr/>
        </p:nvSpPr>
        <p:spPr>
          <a:xfrm>
            <a:off x="4836797" y="4461619"/>
            <a:ext cx="186671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11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Стрічка новин з </a:t>
            </a:r>
            <a:r>
              <a:rPr lang="en-US" sz="1100" i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Riverpod</a:t>
            </a:r>
            <a:endParaRPr lang="uk-UA" sz="1100" i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ACB8F85-EA80-948B-C491-9A097DDCBA72}"/>
              </a:ext>
            </a:extLst>
          </p:cNvPr>
          <p:cNvSpPr txBox="1"/>
          <p:nvPr/>
        </p:nvSpPr>
        <p:spPr>
          <a:xfrm>
            <a:off x="2582024" y="4467509"/>
            <a:ext cx="186671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11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Стрічка новин з </a:t>
            </a:r>
            <a:r>
              <a:rPr lang="en-US" sz="11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Provider</a:t>
            </a:r>
            <a:endParaRPr lang="uk-UA" sz="1100" i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B0B33FA-962D-FFC8-CCA6-256EEB29A22F}"/>
              </a:ext>
            </a:extLst>
          </p:cNvPr>
          <p:cNvSpPr txBox="1"/>
          <p:nvPr/>
        </p:nvSpPr>
        <p:spPr>
          <a:xfrm>
            <a:off x="521279" y="4467509"/>
            <a:ext cx="186671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11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Стрічка новин з </a:t>
            </a:r>
            <a:r>
              <a:rPr lang="en-US" sz="11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Cubit</a:t>
            </a:r>
            <a:endParaRPr lang="uk-UA" sz="1100" i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73383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ПОРІВНЯЛЬНА ХАРАКТЕРИСТИКА ПІДХОДІВ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28599" y="804672"/>
            <a:ext cx="3168869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5" name="Text 3"/>
          <p:cNvSpPr/>
          <p:nvPr/>
        </p:nvSpPr>
        <p:spPr>
          <a:xfrm>
            <a:off x="228600" y="804672"/>
            <a:ext cx="31688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Критерій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566160" y="804672"/>
            <a:ext cx="1371600" cy="411480"/>
          </a:xfrm>
          <a:prstGeom prst="rect">
            <a:avLst/>
          </a:prstGeom>
          <a:solidFill>
            <a:srgbClr val="1D4ED8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9" name="Text 7"/>
          <p:cNvSpPr/>
          <p:nvPr/>
        </p:nvSpPr>
        <p:spPr>
          <a:xfrm>
            <a:off x="3566160" y="80467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Provider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83480" y="804672"/>
            <a:ext cx="1645920" cy="411480"/>
          </a:xfrm>
          <a:prstGeom prst="rect">
            <a:avLst/>
          </a:prstGeom>
          <a:solidFill>
            <a:srgbClr val="1D4ED8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1" name="Text 9"/>
          <p:cNvSpPr/>
          <p:nvPr/>
        </p:nvSpPr>
        <p:spPr>
          <a:xfrm>
            <a:off x="4983480" y="804672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BLoC/Cubit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675120" y="804672"/>
            <a:ext cx="1645920" cy="411480"/>
          </a:xfrm>
          <a:prstGeom prst="rect">
            <a:avLst/>
          </a:prstGeom>
          <a:solidFill>
            <a:srgbClr val="1D4ED8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3" name="Text 11"/>
          <p:cNvSpPr/>
          <p:nvPr/>
        </p:nvSpPr>
        <p:spPr>
          <a:xfrm>
            <a:off x="6675120" y="804672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Riverpod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8600" y="1216152"/>
            <a:ext cx="3168868" cy="484632"/>
          </a:xfrm>
          <a:prstGeom prst="rect">
            <a:avLst/>
          </a:prstGeom>
          <a:solidFill>
            <a:srgbClr val="1A2942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5" name="Text 13"/>
          <p:cNvSpPr/>
          <p:nvPr/>
        </p:nvSpPr>
        <p:spPr>
          <a:xfrm>
            <a:off x="228600" y="1216152"/>
            <a:ext cx="3168868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Складність вивчення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566160" y="1216152"/>
            <a:ext cx="1371600" cy="484632"/>
          </a:xfrm>
          <a:prstGeom prst="rect">
            <a:avLst/>
          </a:prstGeom>
          <a:solidFill>
            <a:srgbClr val="1A2942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9" name="Text 17"/>
          <p:cNvSpPr/>
          <p:nvPr/>
        </p:nvSpPr>
        <p:spPr>
          <a:xfrm>
            <a:off x="3566160" y="1216152"/>
            <a:ext cx="13716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Середня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983480" y="1216152"/>
            <a:ext cx="1645920" cy="484632"/>
          </a:xfrm>
          <a:prstGeom prst="rect">
            <a:avLst/>
          </a:prstGeom>
          <a:solidFill>
            <a:srgbClr val="1A2942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21" name="Text 19"/>
          <p:cNvSpPr/>
          <p:nvPr/>
        </p:nvSpPr>
        <p:spPr>
          <a:xfrm>
            <a:off x="4983480" y="1216152"/>
            <a:ext cx="16459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Висока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675120" y="1216152"/>
            <a:ext cx="1645920" cy="484632"/>
          </a:xfrm>
          <a:prstGeom prst="rect">
            <a:avLst/>
          </a:prstGeom>
          <a:solidFill>
            <a:srgbClr val="1A2942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23" name="Text 21"/>
          <p:cNvSpPr/>
          <p:nvPr/>
        </p:nvSpPr>
        <p:spPr>
          <a:xfrm>
            <a:off x="6675120" y="1216152"/>
            <a:ext cx="16459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Середня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28600" y="1737360"/>
            <a:ext cx="3168868" cy="484632"/>
          </a:xfrm>
          <a:prstGeom prst="rect">
            <a:avLst/>
          </a:prstGeom>
          <a:solidFill>
            <a:srgbClr val="1E3A5F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25" name="Text 23"/>
          <p:cNvSpPr/>
          <p:nvPr/>
        </p:nvSpPr>
        <p:spPr>
          <a:xfrm>
            <a:off x="228600" y="1737360"/>
            <a:ext cx="316886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Розділення логіки/UI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566160" y="1737360"/>
            <a:ext cx="1371600" cy="484632"/>
          </a:xfrm>
          <a:prstGeom prst="rect">
            <a:avLst/>
          </a:prstGeom>
          <a:solidFill>
            <a:srgbClr val="1E3A5F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29" name="Text 27"/>
          <p:cNvSpPr/>
          <p:nvPr/>
        </p:nvSpPr>
        <p:spPr>
          <a:xfrm>
            <a:off x="3566160" y="1737360"/>
            <a:ext cx="13716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Часткове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983480" y="1737360"/>
            <a:ext cx="1645920" cy="484632"/>
          </a:xfrm>
          <a:prstGeom prst="rect">
            <a:avLst/>
          </a:prstGeom>
          <a:solidFill>
            <a:srgbClr val="1E3A5F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31" name="Text 29"/>
          <p:cNvSpPr/>
          <p:nvPr/>
        </p:nvSpPr>
        <p:spPr>
          <a:xfrm>
            <a:off x="4983480" y="1737360"/>
            <a:ext cx="16459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Повне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675120" y="1737360"/>
            <a:ext cx="1645920" cy="484632"/>
          </a:xfrm>
          <a:prstGeom prst="rect">
            <a:avLst/>
          </a:prstGeom>
          <a:solidFill>
            <a:srgbClr val="1E3A5F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33" name="Text 31"/>
          <p:cNvSpPr/>
          <p:nvPr/>
        </p:nvSpPr>
        <p:spPr>
          <a:xfrm>
            <a:off x="6675120" y="1737360"/>
            <a:ext cx="16459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Високе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28600" y="2258568"/>
            <a:ext cx="3168868" cy="484632"/>
          </a:xfrm>
          <a:prstGeom prst="rect">
            <a:avLst/>
          </a:prstGeom>
          <a:solidFill>
            <a:srgbClr val="1A2942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35" name="Text 33"/>
          <p:cNvSpPr/>
          <p:nvPr/>
        </p:nvSpPr>
        <p:spPr>
          <a:xfrm>
            <a:off x="228600" y="2258568"/>
            <a:ext cx="3168868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Масштабованість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566160" y="2258568"/>
            <a:ext cx="1371600" cy="484632"/>
          </a:xfrm>
          <a:prstGeom prst="rect">
            <a:avLst/>
          </a:prstGeom>
          <a:solidFill>
            <a:srgbClr val="1A2942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39" name="Text 37"/>
          <p:cNvSpPr/>
          <p:nvPr/>
        </p:nvSpPr>
        <p:spPr>
          <a:xfrm>
            <a:off x="3566160" y="2258568"/>
            <a:ext cx="13716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Середня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983480" y="2258568"/>
            <a:ext cx="1645920" cy="484632"/>
          </a:xfrm>
          <a:prstGeom prst="rect">
            <a:avLst/>
          </a:prstGeom>
          <a:solidFill>
            <a:srgbClr val="7C3AED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41" name="Text 39"/>
          <p:cNvSpPr/>
          <p:nvPr/>
        </p:nvSpPr>
        <p:spPr>
          <a:xfrm>
            <a:off x="4983480" y="2258568"/>
            <a:ext cx="16459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Дуже висока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675120" y="2258568"/>
            <a:ext cx="1645920" cy="484632"/>
          </a:xfrm>
          <a:prstGeom prst="rect">
            <a:avLst/>
          </a:prstGeom>
          <a:solidFill>
            <a:srgbClr val="1A2942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43" name="Text 41"/>
          <p:cNvSpPr/>
          <p:nvPr/>
        </p:nvSpPr>
        <p:spPr>
          <a:xfrm>
            <a:off x="6675120" y="2258568"/>
            <a:ext cx="16459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Висока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228600" y="2779776"/>
            <a:ext cx="3168868" cy="484632"/>
          </a:xfrm>
          <a:prstGeom prst="rect">
            <a:avLst/>
          </a:prstGeom>
          <a:solidFill>
            <a:srgbClr val="1E3A5F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45" name="Text 43"/>
          <p:cNvSpPr/>
          <p:nvPr/>
        </p:nvSpPr>
        <p:spPr>
          <a:xfrm>
            <a:off x="228600" y="2779776"/>
            <a:ext cx="316886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Тестованість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566160" y="2779776"/>
            <a:ext cx="1371600" cy="484632"/>
          </a:xfrm>
          <a:prstGeom prst="rect">
            <a:avLst/>
          </a:prstGeom>
          <a:solidFill>
            <a:srgbClr val="1E3A5F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49" name="Text 47"/>
          <p:cNvSpPr/>
          <p:nvPr/>
        </p:nvSpPr>
        <p:spPr>
          <a:xfrm>
            <a:off x="3566160" y="2779776"/>
            <a:ext cx="13716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Середня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4983480" y="2779776"/>
            <a:ext cx="1645920" cy="484632"/>
          </a:xfrm>
          <a:prstGeom prst="rect">
            <a:avLst/>
          </a:prstGeom>
          <a:solidFill>
            <a:srgbClr val="10B981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uk-UA">
              <a:solidFill>
                <a:srgbClr val="92D050"/>
              </a:solidFill>
            </a:endParaRPr>
          </a:p>
        </p:txBody>
      </p:sp>
      <p:sp>
        <p:nvSpPr>
          <p:cNvPr id="51" name="Text 49"/>
          <p:cNvSpPr/>
          <p:nvPr/>
        </p:nvSpPr>
        <p:spPr>
          <a:xfrm>
            <a:off x="4983480" y="2779776"/>
            <a:ext cx="16459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Відмінна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675120" y="2779776"/>
            <a:ext cx="1645920" cy="484632"/>
          </a:xfrm>
          <a:prstGeom prst="rect">
            <a:avLst/>
          </a:prstGeom>
          <a:solidFill>
            <a:srgbClr val="10B981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53" name="Text 51"/>
          <p:cNvSpPr/>
          <p:nvPr/>
        </p:nvSpPr>
        <p:spPr>
          <a:xfrm>
            <a:off x="6675120" y="2779776"/>
            <a:ext cx="16459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Відмінна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228600" y="3300984"/>
            <a:ext cx="3168868" cy="484632"/>
          </a:xfrm>
          <a:prstGeom prst="rect">
            <a:avLst/>
          </a:prstGeom>
          <a:solidFill>
            <a:srgbClr val="1A2942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55" name="Text 53"/>
          <p:cNvSpPr/>
          <p:nvPr/>
        </p:nvSpPr>
        <p:spPr>
          <a:xfrm>
            <a:off x="228600" y="3300984"/>
            <a:ext cx="3168868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Frame rendering (ms)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3566160" y="3300984"/>
            <a:ext cx="1371600" cy="484632"/>
          </a:xfrm>
          <a:prstGeom prst="rect">
            <a:avLst/>
          </a:prstGeom>
          <a:solidFill>
            <a:srgbClr val="1A2942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59" name="Text 57"/>
          <p:cNvSpPr/>
          <p:nvPr/>
        </p:nvSpPr>
        <p:spPr>
          <a:xfrm>
            <a:off x="3566160" y="3300984"/>
            <a:ext cx="13716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~16 ms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4983480" y="3300984"/>
            <a:ext cx="1645920" cy="484632"/>
          </a:xfrm>
          <a:prstGeom prst="rect">
            <a:avLst/>
          </a:prstGeom>
          <a:solidFill>
            <a:srgbClr val="1A2942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61" name="Text 59"/>
          <p:cNvSpPr/>
          <p:nvPr/>
        </p:nvSpPr>
        <p:spPr>
          <a:xfrm>
            <a:off x="4983480" y="3300984"/>
            <a:ext cx="16459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~20 ms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6675120" y="3300984"/>
            <a:ext cx="1645920" cy="484632"/>
          </a:xfrm>
          <a:prstGeom prst="rect">
            <a:avLst/>
          </a:prstGeom>
          <a:solidFill>
            <a:srgbClr val="10B981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63" name="Text 61"/>
          <p:cNvSpPr/>
          <p:nvPr/>
        </p:nvSpPr>
        <p:spPr>
          <a:xfrm>
            <a:off x="6675120" y="3300984"/>
            <a:ext cx="16459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~12 ms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228599" y="3822192"/>
            <a:ext cx="3168867" cy="484632"/>
          </a:xfrm>
          <a:prstGeom prst="rect">
            <a:avLst/>
          </a:prstGeom>
          <a:solidFill>
            <a:srgbClr val="1E3A5F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65" name="Text 63"/>
          <p:cNvSpPr/>
          <p:nvPr/>
        </p:nvSpPr>
        <p:spPr>
          <a:xfrm>
            <a:off x="228600" y="3822192"/>
            <a:ext cx="316886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CPU навантаження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3566160" y="3822192"/>
            <a:ext cx="1371600" cy="484632"/>
          </a:xfrm>
          <a:prstGeom prst="rect">
            <a:avLst/>
          </a:prstGeom>
          <a:solidFill>
            <a:srgbClr val="1E3A5F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69" name="Text 67"/>
          <p:cNvSpPr/>
          <p:nvPr/>
        </p:nvSpPr>
        <p:spPr>
          <a:xfrm>
            <a:off x="3566160" y="3822192"/>
            <a:ext cx="13716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Moderate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4983480" y="3822192"/>
            <a:ext cx="1645920" cy="484632"/>
          </a:xfrm>
          <a:prstGeom prst="rect">
            <a:avLst/>
          </a:prstGeom>
          <a:solidFill>
            <a:srgbClr val="1E3A5F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71" name="Text 69"/>
          <p:cNvSpPr/>
          <p:nvPr/>
        </p:nvSpPr>
        <p:spPr>
          <a:xfrm>
            <a:off x="4983480" y="3822192"/>
            <a:ext cx="16459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6675120" y="3822192"/>
            <a:ext cx="1645920" cy="484632"/>
          </a:xfrm>
          <a:prstGeom prst="rect">
            <a:avLst/>
          </a:prstGeom>
          <a:solidFill>
            <a:srgbClr val="10B981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73" name="Text 71"/>
          <p:cNvSpPr/>
          <p:nvPr/>
        </p:nvSpPr>
        <p:spPr>
          <a:xfrm>
            <a:off x="6675120" y="3822192"/>
            <a:ext cx="16459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Low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228600" y="4343400"/>
            <a:ext cx="3168868" cy="484632"/>
          </a:xfrm>
          <a:prstGeom prst="rect">
            <a:avLst/>
          </a:prstGeom>
          <a:solidFill>
            <a:srgbClr val="1A2942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75" name="Text 73"/>
          <p:cNvSpPr/>
          <p:nvPr/>
        </p:nvSpPr>
        <p:spPr>
          <a:xfrm>
            <a:off x="228600" y="4343400"/>
            <a:ext cx="316886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Придатність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3566160" y="4343400"/>
            <a:ext cx="1371600" cy="484632"/>
          </a:xfrm>
          <a:prstGeom prst="rect">
            <a:avLst/>
          </a:prstGeom>
          <a:solidFill>
            <a:srgbClr val="1A2942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79" name="Text 77"/>
          <p:cNvSpPr/>
          <p:nvPr/>
        </p:nvSpPr>
        <p:spPr>
          <a:xfrm>
            <a:off x="3566160" y="4343400"/>
            <a:ext cx="13716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Малі/середні</a:t>
            </a:r>
            <a:endParaRPr lang="en-US" sz="1050" dirty="0"/>
          </a:p>
        </p:txBody>
      </p:sp>
      <p:sp>
        <p:nvSpPr>
          <p:cNvPr id="80" name="Shape 78"/>
          <p:cNvSpPr/>
          <p:nvPr/>
        </p:nvSpPr>
        <p:spPr>
          <a:xfrm>
            <a:off x="4983480" y="4343400"/>
            <a:ext cx="1645920" cy="484632"/>
          </a:xfrm>
          <a:prstGeom prst="rect">
            <a:avLst/>
          </a:prstGeom>
          <a:solidFill>
            <a:srgbClr val="1A2942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81" name="Text 79"/>
          <p:cNvSpPr/>
          <p:nvPr/>
        </p:nvSpPr>
        <p:spPr>
          <a:xfrm>
            <a:off x="4983480" y="4343400"/>
            <a:ext cx="16459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Enterprise</a:t>
            </a:r>
            <a:endParaRPr lang="en-US" sz="1050" dirty="0"/>
          </a:p>
        </p:txBody>
      </p:sp>
      <p:sp>
        <p:nvSpPr>
          <p:cNvPr id="82" name="Shape 80"/>
          <p:cNvSpPr/>
          <p:nvPr/>
        </p:nvSpPr>
        <p:spPr>
          <a:xfrm>
            <a:off x="6675120" y="4343400"/>
            <a:ext cx="1645920" cy="484632"/>
          </a:xfrm>
          <a:prstGeom prst="rect">
            <a:avLst/>
          </a:prstGeom>
          <a:solidFill>
            <a:srgbClr val="1A2942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83" name="Text 81"/>
          <p:cNvSpPr/>
          <p:nvPr/>
        </p:nvSpPr>
        <p:spPr>
          <a:xfrm>
            <a:off x="6675120" y="4343400"/>
            <a:ext cx="16459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Будь-які</a:t>
            </a:r>
            <a:endParaRPr lang="en-US" sz="1050" dirty="0"/>
          </a:p>
        </p:txBody>
      </p:sp>
      <p:sp>
        <p:nvSpPr>
          <p:cNvPr id="84" name="Text 82"/>
          <p:cNvSpPr/>
          <p:nvPr/>
        </p:nvSpPr>
        <p:spPr>
          <a:xfrm>
            <a:off x="8503920" y="48463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2060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CLEAN ARCHITECTURE — STATE EXPLORER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79552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Feature-First організація на базі принципів Clean Architecture 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1143000"/>
            <a:ext cx="283464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6" name="Shape 4"/>
          <p:cNvSpPr/>
          <p:nvPr/>
        </p:nvSpPr>
        <p:spPr>
          <a:xfrm>
            <a:off x="228600" y="1143000"/>
            <a:ext cx="2834640" cy="438912"/>
          </a:xfrm>
          <a:prstGeom prst="rect">
            <a:avLst/>
          </a:prstGeom>
          <a:solidFill>
            <a:srgbClr val="002060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uk-UA">
              <a:solidFill>
                <a:srgbClr val="002060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228600" y="1143000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Шар даних (data)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773936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datasource</a:t>
            </a:r>
            <a:r>
              <a:rPr lang="en-US" sz="14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/ — NewsRemoteDatasource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38328" y="240487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</a:t>
            </a:r>
            <a:r>
              <a:rPr lang="en-US" sz="14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/ — NewsArticleModel, NewsFeedModel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8328" y="299008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repositories</a:t>
            </a:r>
            <a:r>
              <a:rPr lang="en-US" sz="14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/ — NewsRepositoryImpl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8328" y="3520440"/>
            <a:ext cx="2606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HTTP-</a:t>
            </a:r>
            <a:r>
              <a:rPr lang="en-US" sz="1400" b="1" dirty="0" err="1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запити</a:t>
            </a:r>
            <a:r>
              <a:rPr lang="en-US" sz="14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через бібліотеку Dio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00400" y="1143000"/>
            <a:ext cx="283464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uk-UA" dirty="0"/>
          </a:p>
        </p:txBody>
      </p:sp>
      <p:sp>
        <p:nvSpPr>
          <p:cNvPr id="13" name="Shape 11"/>
          <p:cNvSpPr/>
          <p:nvPr/>
        </p:nvSpPr>
        <p:spPr>
          <a:xfrm>
            <a:off x="3200400" y="1143000"/>
            <a:ext cx="2834640" cy="438912"/>
          </a:xfrm>
          <a:prstGeom prst="rect">
            <a:avLst/>
          </a:prstGeom>
          <a:solidFill>
            <a:srgbClr val="002060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4" name="Text 12"/>
          <p:cNvSpPr/>
          <p:nvPr/>
        </p:nvSpPr>
        <p:spPr>
          <a:xfrm>
            <a:off x="3200400" y="1143000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Шар домену (domain)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10128" y="1664208"/>
            <a:ext cx="2606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4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entities</a:t>
            </a:r>
            <a:r>
              <a:rPr lang="en-US" sz="14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/ — NewsArticle, NewsFeed, NewsQuery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10128" y="2322576"/>
            <a:ext cx="2606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repositories</a:t>
            </a:r>
            <a:r>
              <a:rPr lang="en-US" sz="14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/ — абстрактний NewsRepository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10128" y="3082158"/>
            <a:ext cx="2606040" cy="5205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Залежить</a:t>
            </a:r>
            <a:r>
              <a:rPr lang="en-US" sz="14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виключно від стандартної Dart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10128" y="3538886"/>
            <a:ext cx="2606040" cy="4616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Описує</a:t>
            </a:r>
            <a:r>
              <a:rPr lang="en-US" sz="14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«що робить» система (бізнес-логіка)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72200" y="1143000"/>
            <a:ext cx="283464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20" name="Shape 18"/>
          <p:cNvSpPr/>
          <p:nvPr/>
        </p:nvSpPr>
        <p:spPr>
          <a:xfrm>
            <a:off x="6172200" y="1143000"/>
            <a:ext cx="2834640" cy="438912"/>
          </a:xfrm>
          <a:prstGeom prst="rect">
            <a:avLst/>
          </a:prstGeom>
          <a:solidFill>
            <a:srgbClr val="002060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21" name="Text 19"/>
          <p:cNvSpPr/>
          <p:nvPr/>
        </p:nvSpPr>
        <p:spPr>
          <a:xfrm>
            <a:off x="6172200" y="1143000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Шар представлення (presentation)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81928" y="1748080"/>
            <a:ext cx="2606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screens</a:t>
            </a:r>
            <a:r>
              <a:rPr lang="en-US" sz="14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/ — NewsCubitScreen, NewsProviderScreen, NewsRiverpodScreen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81928" y="2487166"/>
            <a:ext cx="2606040" cy="4572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state_manager</a:t>
            </a:r>
            <a:r>
              <a:rPr lang="en-US" sz="14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/ — cubit/, provider/, riverpod/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281928" y="2980944"/>
            <a:ext cx="2606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widgets</a:t>
            </a:r>
            <a:r>
              <a:rPr lang="en-US" sz="14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/ — NewsArticleCard, NewsFeedBody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281928" y="3767958"/>
            <a:ext cx="2606040" cy="4931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Спільна</a:t>
            </a:r>
            <a:r>
              <a:rPr lang="en-US" sz="14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модель NewsFeedState для всіх 3 методів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28600" y="4800600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D4ED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Потік даних:  UI → state manager → domain → repository → datasource  (принцип інверсії залежностей)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503920" y="48463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2060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БЕНЧМАРК ПРОДУКТИВНОСТІ</a:t>
            </a:r>
            <a:endParaRPr lang="en-US" sz="1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822960"/>
          <a:ext cx="502920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577840" y="960120"/>
            <a:ext cx="32918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6" name="Shape 3"/>
          <p:cNvSpPr/>
          <p:nvPr/>
        </p:nvSpPr>
        <p:spPr>
          <a:xfrm>
            <a:off x="5577840" y="960120"/>
            <a:ext cx="64008" cy="8046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7" name="Text 4"/>
          <p:cNvSpPr/>
          <p:nvPr/>
        </p:nvSpPr>
        <p:spPr>
          <a:xfrm>
            <a:off x="5760720" y="1005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Riverpod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760720" y="14173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Low CPU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589520" y="1051560"/>
            <a:ext cx="1188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0B9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 ms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5577840" y="1892808"/>
            <a:ext cx="32918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1" name="Shape 8"/>
          <p:cNvSpPr/>
          <p:nvPr/>
        </p:nvSpPr>
        <p:spPr>
          <a:xfrm>
            <a:off x="5577840" y="1892808"/>
            <a:ext cx="64008" cy="80467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2" name="Text 9"/>
          <p:cNvSpPr/>
          <p:nvPr/>
        </p:nvSpPr>
        <p:spPr>
          <a:xfrm>
            <a:off x="5760720" y="193852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Provider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760720" y="235000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Moderate CPU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589520" y="1984248"/>
            <a:ext cx="1188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284C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 ms</a:t>
            </a:r>
            <a:endParaRPr lang="en-US" sz="2400" dirty="0"/>
          </a:p>
        </p:txBody>
      </p:sp>
      <p:sp>
        <p:nvSpPr>
          <p:cNvPr id="15" name="Shape 12"/>
          <p:cNvSpPr/>
          <p:nvPr/>
        </p:nvSpPr>
        <p:spPr>
          <a:xfrm>
            <a:off x="5577840" y="2825496"/>
            <a:ext cx="32918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6" name="Shape 13"/>
          <p:cNvSpPr/>
          <p:nvPr/>
        </p:nvSpPr>
        <p:spPr>
          <a:xfrm>
            <a:off x="5577840" y="2825496"/>
            <a:ext cx="64008" cy="8046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7" name="Text 14"/>
          <p:cNvSpPr/>
          <p:nvPr/>
        </p:nvSpPr>
        <p:spPr>
          <a:xfrm>
            <a:off x="5760720" y="2871216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MobX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760720" y="328269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Medium CPU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589520" y="2916936"/>
            <a:ext cx="1188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9E0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 ms</a:t>
            </a:r>
            <a:endParaRPr lang="en-US" sz="2400" dirty="0"/>
          </a:p>
        </p:txBody>
      </p:sp>
      <p:sp>
        <p:nvSpPr>
          <p:cNvPr id="20" name="Shape 17"/>
          <p:cNvSpPr/>
          <p:nvPr/>
        </p:nvSpPr>
        <p:spPr>
          <a:xfrm>
            <a:off x="5577840" y="3758184"/>
            <a:ext cx="32918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21" name="Shape 18"/>
          <p:cNvSpPr/>
          <p:nvPr/>
        </p:nvSpPr>
        <p:spPr>
          <a:xfrm>
            <a:off x="5577840" y="3758184"/>
            <a:ext cx="64008" cy="8046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22" name="Text 19"/>
          <p:cNvSpPr/>
          <p:nvPr/>
        </p:nvSpPr>
        <p:spPr>
          <a:xfrm>
            <a:off x="5760720" y="3803904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BLoC/Cubit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760720" y="421538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 CPU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589520" y="3849624"/>
            <a:ext cx="1188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D4ED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 ms</a:t>
            </a:r>
            <a:endParaRPr lang="en-US" sz="2400" dirty="0"/>
          </a:p>
        </p:txBody>
      </p:sp>
      <p:sp>
        <p:nvSpPr>
          <p:cNvPr id="25" name="Text 22"/>
          <p:cNvSpPr/>
          <p:nvPr/>
        </p:nvSpPr>
        <p:spPr>
          <a:xfrm>
            <a:off x="8503920" y="48463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РЕЗУЛЬТАТИ ТЕСТУВАННЯ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Методи тестування: unit testing (flutter_test, mockito), UI-тестування, оцінка продуктивності (Flutter DevTools)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1117145"/>
            <a:ext cx="2834640" cy="37673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2834640" cy="384048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7" name="Text 5"/>
          <p:cNvSpPr/>
          <p:nvPr/>
        </p:nvSpPr>
        <p:spPr>
          <a:xfrm>
            <a:off x="228600" y="1115568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Provider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59" y="1600200"/>
            <a:ext cx="153161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Продуктивність: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1956501" y="1593578"/>
            <a:ext cx="87498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Висока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318462" y="1975104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1400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Зручність</a:t>
            </a:r>
            <a:r>
              <a:rPr lang="en-US" sz="1400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2011680" y="1969113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Легка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377190" y="2345909"/>
            <a:ext cx="158877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Масштабованість</a:t>
            </a:r>
            <a:r>
              <a:rPr lang="en-US" sz="1400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2011680" y="2317531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Середня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960120" y="3346704"/>
            <a:ext cx="1371600" cy="822960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5" name="Text 13"/>
          <p:cNvSpPr/>
          <p:nvPr/>
        </p:nvSpPr>
        <p:spPr>
          <a:xfrm>
            <a:off x="960120" y="3346704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4.4 / 5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20040" y="42519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Оптимальний для малих проєктів і прототипів</a:t>
            </a:r>
            <a:endParaRPr lang="en-US" sz="1000" dirty="0">
              <a:solidFill>
                <a:srgbClr val="002060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205130" y="1123136"/>
            <a:ext cx="2834640" cy="37673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8" name="Shape 16"/>
          <p:cNvSpPr/>
          <p:nvPr/>
        </p:nvSpPr>
        <p:spPr>
          <a:xfrm>
            <a:off x="3200400" y="1115568"/>
            <a:ext cx="2834640" cy="38404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9" name="Text 17"/>
          <p:cNvSpPr/>
          <p:nvPr/>
        </p:nvSpPr>
        <p:spPr>
          <a:xfrm>
            <a:off x="3200400" y="1115568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BLoC / Cubit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663440" y="1673352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Дуже висока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4800600" y="2046994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Складна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4869180" y="2386584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Висока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931920" y="3346704"/>
            <a:ext cx="1371600" cy="82296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27" name="Text 25"/>
          <p:cNvSpPr/>
          <p:nvPr/>
        </p:nvSpPr>
        <p:spPr>
          <a:xfrm>
            <a:off x="3931920" y="3346704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4.6 / 5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3291840" y="42519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Стандарт de-facto для Enterprise та командної розробки</a:t>
            </a:r>
            <a:endParaRPr lang="en-US" sz="1000" dirty="0">
              <a:solidFill>
                <a:srgbClr val="002060"/>
              </a:solidFill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171411" y="1115568"/>
            <a:ext cx="2834640" cy="37673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uk-UA" sz="2400">
              <a:solidFill>
                <a:srgbClr val="002060"/>
              </a:solidFill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172200" y="1115568"/>
            <a:ext cx="283464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31" name="Text 29"/>
          <p:cNvSpPr/>
          <p:nvPr/>
        </p:nvSpPr>
        <p:spPr>
          <a:xfrm>
            <a:off x="6172200" y="1115568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Riverpod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840980" y="1655064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Висока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35" name="Text 33"/>
          <p:cNvSpPr/>
          <p:nvPr/>
        </p:nvSpPr>
        <p:spPr>
          <a:xfrm>
            <a:off x="7840980" y="2025869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Помірна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37" name="Text 35"/>
          <p:cNvSpPr/>
          <p:nvPr/>
        </p:nvSpPr>
        <p:spPr>
          <a:xfrm>
            <a:off x="7884728" y="2386584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Висока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38" name="Shape 36"/>
          <p:cNvSpPr/>
          <p:nvPr/>
        </p:nvSpPr>
        <p:spPr>
          <a:xfrm>
            <a:off x="6903720" y="3346704"/>
            <a:ext cx="1371600" cy="8229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39" name="Text 37"/>
          <p:cNvSpPr/>
          <p:nvPr/>
        </p:nvSpPr>
        <p:spPr>
          <a:xfrm>
            <a:off x="6903720" y="3346704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4.7 / 5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6263640" y="42519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Найкращий баланс: продуктивність + зручність + масштаб</a:t>
            </a:r>
            <a:endParaRPr lang="en-US" sz="1000" dirty="0">
              <a:solidFill>
                <a:srgbClr val="002060"/>
              </a:solidFill>
            </a:endParaRPr>
          </a:p>
        </p:txBody>
      </p:sp>
      <p:sp>
        <p:nvSpPr>
          <p:cNvPr id="41" name="Text 39"/>
          <p:cNvSpPr/>
          <p:nvPr/>
        </p:nvSpPr>
        <p:spPr>
          <a:xfrm>
            <a:off x="8503920" y="48463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1100" dirty="0"/>
          </a:p>
        </p:txBody>
      </p:sp>
      <p:sp>
        <p:nvSpPr>
          <p:cNvPr id="43" name="Text 6">
            <a:extLst>
              <a:ext uri="{FF2B5EF4-FFF2-40B4-BE49-F238E27FC236}">
                <a16:creationId xmlns:a16="http://schemas.microsoft.com/office/drawing/2014/main" id="{0BC82B96-7D8F-B5C4-A274-6B90E96E541B}"/>
              </a:ext>
            </a:extLst>
          </p:cNvPr>
          <p:cNvSpPr/>
          <p:nvPr/>
        </p:nvSpPr>
        <p:spPr>
          <a:xfrm>
            <a:off x="3223261" y="1699786"/>
            <a:ext cx="153161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Продуктивність: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44" name="Text 8">
            <a:extLst>
              <a:ext uri="{FF2B5EF4-FFF2-40B4-BE49-F238E27FC236}">
                <a16:creationId xmlns:a16="http://schemas.microsoft.com/office/drawing/2014/main" id="{79A602CA-1A83-F2DD-158F-11098BDC3C5B}"/>
              </a:ext>
            </a:extLst>
          </p:cNvPr>
          <p:cNvSpPr/>
          <p:nvPr/>
        </p:nvSpPr>
        <p:spPr>
          <a:xfrm>
            <a:off x="3246120" y="20462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Зручність: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45" name="Text 10">
            <a:extLst>
              <a:ext uri="{FF2B5EF4-FFF2-40B4-BE49-F238E27FC236}">
                <a16:creationId xmlns:a16="http://schemas.microsoft.com/office/drawing/2014/main" id="{328C71D9-1C10-0CD3-EE61-265E5A4E5D50}"/>
              </a:ext>
            </a:extLst>
          </p:cNvPr>
          <p:cNvSpPr/>
          <p:nvPr/>
        </p:nvSpPr>
        <p:spPr>
          <a:xfrm>
            <a:off x="3187394" y="2416644"/>
            <a:ext cx="158877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Масштабованість: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59" name="Text 6">
            <a:extLst>
              <a:ext uri="{FF2B5EF4-FFF2-40B4-BE49-F238E27FC236}">
                <a16:creationId xmlns:a16="http://schemas.microsoft.com/office/drawing/2014/main" id="{CD0C60B0-8BCC-7959-6EC7-9D8B7F1743B0}"/>
              </a:ext>
            </a:extLst>
          </p:cNvPr>
          <p:cNvSpPr/>
          <p:nvPr/>
        </p:nvSpPr>
        <p:spPr>
          <a:xfrm>
            <a:off x="6200184" y="1699917"/>
            <a:ext cx="153161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Продуктивність: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60" name="Text 8">
            <a:extLst>
              <a:ext uri="{FF2B5EF4-FFF2-40B4-BE49-F238E27FC236}">
                <a16:creationId xmlns:a16="http://schemas.microsoft.com/office/drawing/2014/main" id="{B2EFD8DF-48B7-9403-D1A4-F59E1B346A72}"/>
              </a:ext>
            </a:extLst>
          </p:cNvPr>
          <p:cNvSpPr/>
          <p:nvPr/>
        </p:nvSpPr>
        <p:spPr>
          <a:xfrm>
            <a:off x="6223043" y="2046391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Зручність: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61" name="Text 10">
            <a:extLst>
              <a:ext uri="{FF2B5EF4-FFF2-40B4-BE49-F238E27FC236}">
                <a16:creationId xmlns:a16="http://schemas.microsoft.com/office/drawing/2014/main" id="{177F3F8E-7E9C-D33A-2819-CBB0A16EFAF0}"/>
              </a:ext>
            </a:extLst>
          </p:cNvPr>
          <p:cNvSpPr/>
          <p:nvPr/>
        </p:nvSpPr>
        <p:spPr>
          <a:xfrm>
            <a:off x="6164317" y="2416775"/>
            <a:ext cx="158877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Масштабованість:</a:t>
            </a:r>
            <a:endParaRPr lang="en-US" sz="14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ВИСНОВКИ 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503920" y="48463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1100" dirty="0"/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299F38E1-F6C6-CF3F-35F5-664682A5DD7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2140"/>
          <a:stretch>
            <a:fillRect/>
          </a:stretch>
        </p:blipFill>
        <p:spPr>
          <a:xfrm>
            <a:off x="5919953" y="886522"/>
            <a:ext cx="3369090" cy="3571415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EF20BC76-B9D6-F135-74B3-EC4D5AB89636}"/>
              </a:ext>
            </a:extLst>
          </p:cNvPr>
          <p:cNvSpPr txBox="1"/>
          <p:nvPr/>
        </p:nvSpPr>
        <p:spPr>
          <a:xfrm>
            <a:off x="165539" y="886522"/>
            <a:ext cx="5754414" cy="4078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 </a:t>
            </a:r>
            <a:r>
              <a:rPr 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ході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дослідження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було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проаналізовано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порівняно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три </a:t>
            </a:r>
            <a:r>
              <a:rPr 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основні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підходи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до </a:t>
            </a:r>
            <a:r>
              <a:rPr 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управління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станом у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Flutter-</a:t>
            </a:r>
            <a:r>
              <a:rPr 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застосунках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Provider, </a:t>
            </a:r>
            <a:r>
              <a:rPr lang="en-US" sz="1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BLoC</a:t>
            </a:r>
            <a:r>
              <a:rPr lang="en-US" sz="1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 </a:t>
            </a:r>
            <a:r>
              <a:rPr lang="en-US" sz="1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Riverpod</a:t>
            </a:r>
            <a:r>
              <a:rPr lang="uk-UA" sz="1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</a:t>
            </a:r>
            <a:r>
              <a:rPr lang="uk-UA" sz="1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визначено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їх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вплив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ефективність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архітектурних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рішень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Доведено</a:t>
            </a: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доцільність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використання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багатошарової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архітектури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основі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Architecture, 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що </a:t>
            </a:r>
            <a:r>
              <a:rPr 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забезпечує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розділення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відповідальностей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зменшення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зв’язності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компонентів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спрощення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тестування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 </a:t>
            </a:r>
            <a:r>
              <a:rPr lang="ru-RU" sz="1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результаті</a:t>
            </a:r>
            <a:r>
              <a:rPr lang="ru-RU" sz="1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дослідження</a:t>
            </a:r>
            <a:r>
              <a:rPr lang="ru-RU" sz="1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встановлено</a:t>
            </a:r>
            <a:r>
              <a:rPr lang="ru-RU" sz="1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що правильна </a:t>
            </a:r>
            <a:r>
              <a:rPr 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організація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стану позитивно </a:t>
            </a:r>
            <a:r>
              <a:rPr 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впливає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продуктивність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UX </a:t>
            </a:r>
            <a:r>
              <a:rPr 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мобільного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застосунку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За результатами </a:t>
            </a:r>
            <a:r>
              <a:rPr 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експериментів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встановлено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що </a:t>
            </a:r>
            <a:r>
              <a:rPr lang="en-US" sz="1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BLoC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забезпечує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найвищу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продуктивність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і </a:t>
            </a:r>
            <a:r>
              <a:rPr 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масштабованість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але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потребує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складнішої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реалізації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Provider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продемонстрував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простоту </a:t>
            </a:r>
            <a:r>
              <a:rPr 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впровадження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хорошу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продуктивність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однак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поступається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у великих </a:t>
            </a:r>
            <a:r>
              <a:rPr 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проєктах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Riverpod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показав </a:t>
            </a:r>
            <a:r>
              <a:rPr 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найкращий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баланс </a:t>
            </a:r>
            <a:r>
              <a:rPr 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між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продуктивністю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гнучкістю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зручністю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використання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отримавши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середню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оцінку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4.7/5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Отримані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результати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мають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практичне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значення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можуть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бути </a:t>
            </a:r>
            <a:r>
              <a:rPr 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використані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як </a:t>
            </a:r>
            <a:r>
              <a:rPr 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рекомендації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при </a:t>
            </a:r>
            <a:r>
              <a:rPr 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виборі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підходу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до </a:t>
            </a:r>
            <a:r>
              <a:rPr 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розробки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Flutter-</a:t>
            </a:r>
            <a:r>
              <a:rPr 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застосунків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залежно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від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складності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проєкту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endParaRPr lang="ru-RU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Результати</a:t>
            </a:r>
            <a:r>
              <a:rPr lang="ru-RU" sz="1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дослідження</a:t>
            </a:r>
            <a:r>
              <a:rPr lang="ru-RU" sz="1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були </a:t>
            </a:r>
            <a:r>
              <a:rPr lang="ru-RU" sz="1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апробовані</a:t>
            </a:r>
            <a:r>
              <a:rPr lang="ru-RU" sz="1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шляхом </a:t>
            </a:r>
            <a:r>
              <a:rPr lang="ru-RU" sz="1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публікації</a:t>
            </a:r>
            <a:r>
              <a:rPr lang="ru-RU" sz="1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наукової</a:t>
            </a:r>
            <a:r>
              <a:rPr lang="ru-RU" sz="1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статті</a:t>
            </a:r>
            <a:r>
              <a:rPr lang="ru-RU" sz="1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у </a:t>
            </a:r>
            <a:r>
              <a:rPr lang="ru-RU" sz="1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збірнику</a:t>
            </a:r>
            <a:r>
              <a:rPr lang="ru-RU" sz="1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«</a:t>
            </a:r>
            <a:r>
              <a:rPr lang="ru-RU" sz="1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Системні</a:t>
            </a:r>
            <a:r>
              <a:rPr lang="ru-RU" sz="1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технології</a:t>
            </a:r>
            <a:r>
              <a:rPr lang="ru-RU" sz="1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 та тез </a:t>
            </a:r>
            <a:r>
              <a:rPr lang="ru-RU" sz="1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конференції</a:t>
            </a:r>
            <a:r>
              <a:rPr lang="ru-RU" sz="1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SCIENCE: TRENDS, CHALLENGES, SOLUTIONS. </a:t>
            </a:r>
            <a:endParaRPr lang="uk-UA" sz="1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Дякую за увагу!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2286000" y="1828800"/>
            <a:ext cx="457200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0" name="Text 8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Вельма Анастасія Олександрівна  |  ІПЗм-24-3  |  ХНУРЕ  |  2026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503920" y="48463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859</Words>
  <Application>Microsoft Office PowerPoint</Application>
  <PresentationFormat>Экран (16:9)</PresentationFormat>
  <Paragraphs>199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5" baseType="lpstr">
      <vt:lpstr>Arial</vt:lpstr>
      <vt:lpstr>Times New Roman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Дослідження методів управління станом мобільного застосунка Flutter</dc:title>
  <dc:subject>PptxGenJS Presentation</dc:subject>
  <dc:creator>PptxGenJS</dc:creator>
  <cp:lastModifiedBy>вельма ася</cp:lastModifiedBy>
  <cp:revision>3</cp:revision>
  <dcterms:created xsi:type="dcterms:W3CDTF">2026-05-08T07:31:11Z</dcterms:created>
  <dcterms:modified xsi:type="dcterms:W3CDTF">2026-05-08T08:43:42Z</dcterms:modified>
</cp:coreProperties>
</file>